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73152"/>
          </a:xfrm>
          <a:prstGeom prst="rect">
            <a:avLst/>
          </a:prstGeom>
          <a:solidFill>
            <a:srgbClr val="1E9E8C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Kitchen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Meal Planning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Seniors &amp; Families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SMG Senior Resource Day  •  August 7,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smart-kitchen-opal.vercel.app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0" y="274320"/>
            <a:ext cx="2286000" cy="2286000"/>
          </a:xfrm>
          <a:prstGeom prst="ellipse">
            <a:avLst/>
          </a:prstGeom>
          <a:solidFill>
            <a:srgbClr val="1E9E8C">
              <a:alpha val="15000"/>
            </a:srgbClr>
          </a:solidFill>
          <a:ln w="12700">
            <a:solidFill>
              <a:srgbClr val="1E9E8C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0" y="1097280"/>
            <a:ext cx="1097280" cy="1097280"/>
          </a:xfrm>
          <a:prstGeom prst="ellipse">
            <a:avLst/>
          </a:prstGeom>
          <a:solidFill>
            <a:srgbClr val="1E9E8C">
              <a:alpha val="30000"/>
            </a:srgbClr>
          </a:solidFill>
          <a:ln w="12700">
            <a:solidFill>
              <a:srgbClr val="1E9E8C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9E8C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App Started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412480" cy="36576"/>
          </a:xfrm>
          <a:prstGeom prst="rect">
            <a:avLst/>
          </a:prstGeom>
          <a:solidFill>
            <a:srgbClr val="1E9E8C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app started with a question I dreaded hearing.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wife Sue has been dealing with some things for a while. The hard days, the good days, and everything in between. Taking over the cooking wasn’t really a decision — it’s just what you do.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from home sounds like it should make this easier. But the laptop closes and you’re already standing in the kitchen. I run a business. I manage people. I’m solving problems all day. And then five o’clock rolls around.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77840" y="1097280"/>
            <a:ext cx="3291840" cy="1371600"/>
          </a:xfrm>
          <a:prstGeom prst="roundRect">
            <a:avLst/>
          </a:prstGeom>
          <a:solidFill>
            <a:srgbClr val="E8F7F5"/>
          </a:solidFill>
          <a:ln w="25400">
            <a:solidFill>
              <a:srgbClr val="1E9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0" y="11887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“Sue would ask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i="1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‘What’s for dinner?’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i="1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 would get irritated.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577840" y="26060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at Sue — never at Sue. Just at the question itself. One more decision at the end of a day that already had too many.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asked: what if I just handed this one off?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4572000"/>
            <a:ext cx="8412480" cy="411480"/>
          </a:xfrm>
          <a:prstGeom prst="rect">
            <a:avLst/>
          </a:prstGeom>
          <a:solidFill>
            <a:srgbClr val="E8F7F5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636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question became Smart Kitchen.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Smart Kitchen Does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1E9E8C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things. One place. Zero downloads.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1600200" cy="2560320"/>
          </a:xfrm>
          <a:prstGeom prst="roundRect">
            <a:avLst/>
          </a:prstGeom>
          <a:solidFill>
            <a:srgbClr val="0D7A6E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7830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🍽️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23774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Dinners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288036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meal plan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15 seconds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29968" y="1645920"/>
            <a:ext cx="1600200" cy="2560320"/>
          </a:xfrm>
          <a:prstGeom prst="roundRect">
            <a:avLst/>
          </a:prstGeom>
          <a:solidFill>
            <a:srgbClr val="0D7A6E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29968" y="17830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📷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029968" y="23774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Groceries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29968" y="288036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camera 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or shelf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85616" y="1645920"/>
            <a:ext cx="1600200" cy="2560320"/>
          </a:xfrm>
          <a:prstGeom prst="roundRect">
            <a:avLst/>
          </a:prstGeom>
          <a:solidFill>
            <a:srgbClr val="0D7A6E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85616" y="17830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🛒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785616" y="23774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List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85616" y="288036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list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41264" y="1645920"/>
            <a:ext cx="1600200" cy="2560320"/>
          </a:xfrm>
          <a:prstGeom prst="roundRect">
            <a:avLst/>
          </a:prstGeom>
          <a:solidFill>
            <a:srgbClr val="0D7A6E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41264" y="17830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📧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541264" y="23774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the List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41264" y="288036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it to your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partner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96912" y="1645920"/>
            <a:ext cx="1600200" cy="2560320"/>
          </a:xfrm>
          <a:prstGeom prst="roundRect">
            <a:avLst/>
          </a:prstGeom>
          <a:solidFill>
            <a:srgbClr val="0D7A6E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96912" y="17830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⚕️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296912" y="23774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Diets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96912" y="288036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Diabetic, cardiac,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renal — enforced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app to download. Opens in any phone browser.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Seniors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4124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Mode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text — easy to read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buttons — easy to tap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navigation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High-contrast interface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features still available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 to turn on or off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114800" cy="3291840"/>
          </a:xfrm>
          <a:prstGeom prst="roundRect">
            <a:avLst/>
          </a:prstGeom>
          <a:solidFill>
            <a:srgbClr val="E8F7F5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Seniors living independently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managing a medical diet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Caregivers managing a parent's meals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who wants simplicity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setup required — just tap Senior Mode in Settings.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Dietary Compliance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1E9E8C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it once. The app handles it automatically. Every meal. Every recipe.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solidFill>
            <a:srgbClr val="0D2E2A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6479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🩺  Diabetic-Friendly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566160" y="1764792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 rice, whole grains, lower glycemic throughout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566928"/>
          </a:xfrm>
          <a:prstGeom prst="rect">
            <a:avLst/>
          </a:prstGeom>
          <a:solidFill>
            <a:srgbClr val="0D2E2A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0487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❤️  Heart-Healthy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66160" y="2404872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sodium, low saturated fat automatically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8229600" cy="566928"/>
          </a:xfrm>
          <a:prstGeom prst="rect">
            <a:avLst/>
          </a:prstGeom>
          <a:solidFill>
            <a:srgbClr val="0D2E2A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04495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🧂  Low Sodium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66160" y="3044952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salt across every recipe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8229600" cy="566928"/>
          </a:xfrm>
          <a:prstGeom prst="rect">
            <a:avLst/>
          </a:prstGeom>
          <a:solidFill>
            <a:srgbClr val="0D2E2A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8503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💊  Renal Diet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566160" y="3685032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potassium, phosphorus, sodium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solidFill>
            <a:srgbClr val="0D2E2A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32511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  Anti-Inflammatory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566160" y="4325112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foods, healthy fats emphasized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1E9E8C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other meal planning app enforces medical dietary compliance at the AI level.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9E8C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Restock Queue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forget what's running 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412480" cy="36576"/>
          </a:xfrm>
          <a:prstGeom prst="rect">
            <a:avLst/>
          </a:prstGeom>
          <a:solidFill>
            <a:srgbClr val="1E9E8C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645920"/>
            <a:ext cx="502920" cy="502920"/>
          </a:xfrm>
          <a:prstGeom prst="ellipse">
            <a:avLst/>
          </a:prstGeom>
          <a:solidFill>
            <a:srgbClr val="1E9E8C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916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645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something low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20299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Milk, eggs, bread — anything running out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17720" y="1645920"/>
            <a:ext cx="502920" cy="502920"/>
          </a:xfrm>
          <a:prstGeom prst="ellipse">
            <a:avLst/>
          </a:prstGeom>
          <a:solidFill>
            <a:srgbClr val="1E9E8C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6916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57800" y="1645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'+ Restock' on that item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257800" y="20299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button turns amber — item is queued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040" y="3200400"/>
            <a:ext cx="502920" cy="502920"/>
          </a:xfrm>
          <a:prstGeom prst="ellipse">
            <a:avLst/>
          </a:prstGeom>
          <a:solidFill>
            <a:srgbClr val="1E9E8C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2461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0120" y="3200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going through your week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60120" y="358444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as many items as you like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17720" y="3200400"/>
            <a:ext cx="502920" cy="502920"/>
          </a:xfrm>
          <a:prstGeom prst="ellipse">
            <a:avLst/>
          </a:prstGeom>
          <a:solidFill>
            <a:srgbClr val="1E9E8C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32461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57800" y="3200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'+ Restock' on Shopping List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257800" y="358444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queued items added in one tap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0040" y="4617720"/>
            <a:ext cx="8412480" cy="384048"/>
          </a:xfrm>
          <a:prstGeom prst="rect">
            <a:avLst/>
          </a:prstGeom>
          <a:solidFill>
            <a:srgbClr val="E8F7F5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for caregivers — check the fridge, queue what's low, send the shopping list.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the Shopping List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1E9E8C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 sends the full list to your spouse, caregiver, or family member.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1280160"/>
          </a:xfrm>
          <a:prstGeom prst="roundRect">
            <a:avLst/>
          </a:prstGeom>
          <a:solidFill>
            <a:srgbClr val="0D7A6E"/>
          </a:solidFill>
          <a:ln w="25400">
            <a:solidFill>
              <a:srgbClr val="1E9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 Plan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377440" y="2468880"/>
            <a:ext cx="228600" cy="0"/>
          </a:xfrm>
          <a:prstGeom prst="line">
            <a:avLst/>
          </a:prstGeom>
          <a:noFill/>
          <a:ln w="38100">
            <a:solidFill>
              <a:srgbClr val="1E9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22860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06040" y="1828800"/>
            <a:ext cx="1828800" cy="1280160"/>
          </a:xfrm>
          <a:prstGeom prst="roundRect">
            <a:avLst/>
          </a:prstGeom>
          <a:solidFill>
            <a:srgbClr val="0D7A6E"/>
          </a:solidFill>
          <a:ln w="25400">
            <a:solidFill>
              <a:srgbClr val="1E9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9202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Ready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434840" y="2468880"/>
            <a:ext cx="228600" cy="0"/>
          </a:xfrm>
          <a:prstGeom prst="line">
            <a:avLst/>
          </a:prstGeom>
          <a:noFill/>
          <a:ln w="38100">
            <a:solidFill>
              <a:srgbClr val="1E9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22860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1828800" cy="1280160"/>
          </a:xfrm>
          <a:prstGeom prst="roundRect">
            <a:avLst/>
          </a:prstGeom>
          <a:solidFill>
            <a:srgbClr val="0D7A6E"/>
          </a:solidFill>
          <a:ln w="25400">
            <a:solidFill>
              <a:srgbClr val="1E9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9202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Email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[Name]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92240" y="2468880"/>
            <a:ext cx="228600" cy="0"/>
          </a:xfrm>
          <a:prstGeom prst="line">
            <a:avLst/>
          </a:prstGeom>
          <a:noFill/>
          <a:ln w="38100">
            <a:solidFill>
              <a:srgbClr val="1E9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2860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720840" y="1828800"/>
            <a:ext cx="1828800" cy="1280160"/>
          </a:xfrm>
          <a:prstGeom prst="roundRect">
            <a:avLst/>
          </a:prstGeom>
          <a:solidFill>
            <a:srgbClr val="0D7A6E"/>
          </a:solidFill>
          <a:ln w="25400">
            <a:solidFill>
              <a:srgbClr val="1E9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9202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Sent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list is grouped by category: Produce, Meat, Dairy, Pantry, Frozen.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Whoever's at the store moves through sections efficiently — no backtracking.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1E9E8C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4074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once in Settings → Shopping Partner. That's it.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 —  Under 8 Minutes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4124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3444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5272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1188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Mode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153619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on — instant large text, simplified view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167128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18541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1214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Scan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246888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camera at a grocery receipt — items appear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099816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11810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30540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Restock Queue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340156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'+ Restock' on two low items to show queuing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4032504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05079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39867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Meal Plan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4334256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week of dinners in 15 seconds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123444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25272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257800" y="1188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Busy Night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257800" y="153619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one evening — quick meal assigned automatically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2167128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18541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257800" y="21214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Calendar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257800" y="246888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the meal plan — dinners appear on calendar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3099816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11810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257800" y="30540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List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257800" y="340156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'Email to [Name]' — categorized list sent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Pricing. 30-Day Free Trial.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1E9E8C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credit card required to start. No commitment.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1965960" cy="3017520"/>
          </a:xfrm>
          <a:prstGeom prst="roundRect">
            <a:avLst/>
          </a:prstGeom>
          <a:solidFill>
            <a:srgbClr val="0D2E2A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15468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recipes/day, 3-day plan, scanning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23160" y="1691640"/>
            <a:ext cx="1965960" cy="3017520"/>
          </a:xfrm>
          <a:prstGeom prst="roundRect">
            <a:avLst/>
          </a:prstGeom>
          <a:solidFill>
            <a:srgbClr val="1E9E8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7373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SENIORS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2057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23160" y="25146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$2.99/mo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$24.99/yr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14600" y="324612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features — built for seniors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plans, calendar, full scanning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1691640"/>
            <a:ext cx="1965960" cy="3017520"/>
          </a:xfrm>
          <a:prstGeom prst="roundRect">
            <a:avLst/>
          </a:prstGeom>
          <a:solidFill>
            <a:srgbClr val="0D2E2A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24231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$7.99/mo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63440" y="315468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3 family profiles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features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1691640"/>
            <a:ext cx="1965960" cy="3017520"/>
          </a:xfrm>
          <a:prstGeom prst="roundRect">
            <a:avLst/>
          </a:prstGeom>
          <a:solidFill>
            <a:srgbClr val="0D2E2A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0840" y="24231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$14.99/mo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812280" y="315468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AI-enforced medical dietary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— diabetic, cardiac, renal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0D2E2A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paid tiers start with a 30-day free trial  •  No credit card required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9E8C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 in 3 Steps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412480" cy="36576"/>
          </a:xfrm>
          <a:prstGeom prst="rect">
            <a:avLst/>
          </a:prstGeom>
          <a:solidFill>
            <a:srgbClr val="1E9E8C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508760"/>
            <a:ext cx="640080" cy="640080"/>
          </a:xfrm>
          <a:prstGeom prst="ellipse">
            <a:avLst/>
          </a:prstGeom>
          <a:solidFill>
            <a:srgbClr val="1E9E8C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5361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13716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Browser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181051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download needed. Works on iPhone, Android, or any computer.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20040" y="2697480"/>
            <a:ext cx="640080" cy="640080"/>
          </a:xfrm>
          <a:prstGeom prst="ellipse">
            <a:avLst/>
          </a:prstGeom>
          <a:solidFill>
            <a:srgbClr val="1E9E8C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7249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" y="256032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the Website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7280" y="299923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smart-kitchen-opal.vercel.app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20040" y="3886200"/>
            <a:ext cx="640080" cy="640080"/>
          </a:xfrm>
          <a:prstGeom prst="ellipse">
            <a:avLst/>
          </a:prstGeom>
          <a:solidFill>
            <a:srgbClr val="1E9E8C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9136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97280" y="37490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Setup Wizard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97280" y="418795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minutes. Enter your household, dietary needs, and starting inventory.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320040" y="4617720"/>
            <a:ext cx="8412480" cy="411480"/>
          </a:xfrm>
          <a:prstGeom prst="rect">
            <a:avLst/>
          </a:prstGeom>
          <a:solidFill>
            <a:srgbClr val="E8F7F5"/>
          </a:solidFill>
          <a:ln w="25400">
            <a:solidFill>
              <a:srgbClr val="1E9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your home screen for one-tap access — it works just like an app.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73152"/>
          </a:xfrm>
          <a:prstGeom prst="rect">
            <a:avLst/>
          </a:prstGeom>
          <a:solidFill>
            <a:srgbClr val="1E9E8C"/>
          </a:solidFill>
          <a:ln w="12700">
            <a:solidFill>
              <a:srgbClr val="1E9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"/>
            <a:ext cx="2743200" cy="2743200"/>
          </a:xfrm>
          <a:prstGeom prst="ellipse">
            <a:avLst/>
          </a:prstGeom>
          <a:solidFill>
            <a:srgbClr val="1E9E8C">
              <a:alpha val="12000"/>
            </a:srgbClr>
          </a:solidFill>
          <a:ln w="12700">
            <a:solidFill>
              <a:srgbClr val="1E9E8C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Free Today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days. No credit card. Full access.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7772400" cy="1371600"/>
          </a:xfrm>
          <a:prstGeom prst="roundRect">
            <a:avLst/>
          </a:prstGeom>
          <a:solidFill>
            <a:srgbClr val="0D2E2A"/>
          </a:solidFill>
          <a:ln w="25400">
            <a:solidFill>
              <a:srgbClr val="1E9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smart-kitchen-opal.vercel.app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in any browser on your phone right now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Ask me anything.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224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Rick Rinehart  •  Creator, Smart Kitchen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Kitchen — Senior Resource Day Presentation</dc:title>
  <dc:subject>PptxGenJS Presentation</dc:subject>
  <dc:creator>Rick Rinehart</dc:creator>
  <cp:lastModifiedBy>Rick Rinehart</cp:lastModifiedBy>
  <cp:revision>1</cp:revision>
  <dcterms:created xsi:type="dcterms:W3CDTF">2026-04-30T16:16:28Z</dcterms:created>
  <dcterms:modified xsi:type="dcterms:W3CDTF">2026-04-30T16:16:28Z</dcterms:modified>
</cp:coreProperties>
</file>